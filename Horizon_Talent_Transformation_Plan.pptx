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2FE"/>
              </a:solidFill>
              <a:effectLst/>
            </c:spPr>
          </c:dPt>
          <c:dPt>
            <c:idx val="1"/>
            <c:bubble3D val="0"/>
            <c:spPr>
              <a:solidFill>
                <a:srgbClr val="009D9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Offshore</c:v>
                </c:pt>
                <c:pt idx="1">
                  <c:v>Onshore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322</c:v>
                </c:pt>
                <c:pt idx="1">
                  <c:v>69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Developer</c:v>
                  </c:pt>
                  <c:pt idx="1">
                    <c:v>Operations Engineer</c:v>
                  </c:pt>
                  <c:pt idx="2">
                    <c:v>Technical Lead</c:v>
                  </c:pt>
                  <c:pt idx="3">
                    <c:v>Project Manager</c:v>
                  </c:pt>
                  <c:pt idx="4">
                    <c:v>BSA</c:v>
                  </c:pt>
                  <c:pt idx="5">
                    <c:v>DBA</c:v>
                  </c:pt>
                  <c:pt idx="6">
                    <c:v>Solution Architect</c:v>
                  </c:pt>
                  <c:pt idx="7">
                    <c:v>Platform Admin/ DBA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160</c:v>
                </c:pt>
                <c:pt idx="1">
                  <c:v>104</c:v>
                </c:pt>
                <c:pt idx="2">
                  <c:v>49</c:v>
                </c:pt>
                <c:pt idx="3">
                  <c:v>37</c:v>
                </c:pt>
                <c:pt idx="4">
                  <c:v>16</c:v>
                </c:pt>
                <c:pt idx="5">
                  <c:v>14</c:v>
                </c:pt>
                <c:pt idx="6">
                  <c:v>7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161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2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0" y="640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0" y="1078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BCBS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263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Transformation Plan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35204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Product-Based Talent Strategy for AI-Led Operations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Product-Aligned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AIOps-Driven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Domain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4617720"/>
            <a:ext cx="7132320" cy="14173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7365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 FOR REFERENCE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5029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https://horizon-payer.replit.app   (CareOps360 Portal)
</a:t>
            </a:r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exec@horizon.com    </a:t>
            </a:r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Pwd: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Horizon&amp;IBM2026
</a:t>
            </a:r>
            <a:pPr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Capability Uplift → Talent Plan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Talent Transformation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406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109728" cy="205740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Product-Based Operations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role-based application support to product-aligned teams with end-to-end ownership of business outcomes.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54406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08760"/>
            <a:ext cx="109728" cy="205740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AI, AIOps, and Automation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560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GenAI, agentic workflows, AIOps and DevSecOps into the operating model — not as add-ons, but as defaults.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406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109728" cy="205740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 391 Resources Across the Stack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6-month plan covering technology, healthcare domain depth, and AI-first ways of working.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794760"/>
            <a:ext cx="54406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794760"/>
            <a:ext cx="109728" cy="2057400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4A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297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Delivery, Higher Resiliency, Lower Cost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4846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releases, fewer incidents, automated remediation, and re-investable run savings — measured in business KPIs.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CURRENT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Workforce Composition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801368" cy="7315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Resources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0008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0008" y="1417320"/>
            <a:ext cx="1801368" cy="73152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50008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42816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42816" y="1417320"/>
            <a:ext cx="1801368" cy="73152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242816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1417320"/>
            <a:ext cx="1801368" cy="73152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35624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28432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1417320"/>
            <a:ext cx="1801368" cy="73152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28432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Engineers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921240" y="1417320"/>
            <a:ext cx="1801368" cy="96012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21240" y="1417320"/>
            <a:ext cx="1801368" cy="73152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21240" y="1554480"/>
            <a:ext cx="1801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921240" y="2029968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606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vs Offshore</a:t>
            </a:r>
            <a:endParaRPr lang="en-US" sz="13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297180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Distribution</a:t>
            </a:r>
            <a:endParaRPr lang="en-US" sz="130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6309360" y="29718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ALIGNMENT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a Product-Centric Operating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 Ownership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09728" cy="7772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671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business areas (Health &amp; Network, Service &amp; Admin, Specialty, 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09728" cy="777240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2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0358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of related products inside a domain.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09728" cy="77724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044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ownership — long-lived, business-aligned.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109728" cy="77724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80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7731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surface a team operates and evolves.</a:t>
            </a:r>
            <a:endParaRPr lang="en-US" sz="1100" dirty="0"/>
          </a:p>
        </p:txBody>
      </p:sp>
      <p:pic>
        <p:nvPicPr>
          <p:cNvPr id="19" name="Image 0" descr="/home/runner/workspace/screenshots/talent-deck/product-tree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17320"/>
            <a:ext cx="6035040" cy="3840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669280" y="53492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resource is aligned to a product and application area to enable end-to-end ownership.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ROLE TRANSFORMATION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Roles for AI-Led Operations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→ To Role Mapping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19456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Engineer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2057400"/>
            <a:ext cx="548640" cy="320040"/>
          </a:xfrm>
          <a:prstGeom prst="rightArrow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828800"/>
            <a:ext cx="2697480" cy="77724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(AI-LED)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1840" y="212140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Engineer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19456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1272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063240"/>
            <a:ext cx="548640" cy="320040"/>
          </a:xfrm>
          <a:prstGeom prst="rightArrow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834640"/>
            <a:ext cx="2697480" cy="7772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8803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(AI-LED)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312724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Product Engineer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19456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862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1330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97480" y="4069080"/>
            <a:ext cx="548640" cy="320040"/>
          </a:xfrm>
          <a:prstGeom prst="rightArrow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840480"/>
            <a:ext cx="2697480" cy="77724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8862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(AI-LED)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91840" y="413308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Lead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2194560" cy="777240"/>
          </a:xfrm>
          <a:prstGeom prst="rect">
            <a:avLst/>
          </a:prstGeom>
          <a:solidFill>
            <a:srgbClr val="F4F4F4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92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51389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97480" y="5074920"/>
            <a:ext cx="548640" cy="320040"/>
          </a:xfrm>
          <a:prstGeom prst="rightArrow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4846320"/>
            <a:ext cx="2697480" cy="777240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892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(AI-LED)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91840" y="5138928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Delivery Lead</a:t>
            </a:r>
            <a:endParaRPr lang="en-US" sz="1200" dirty="0"/>
          </a:p>
        </p:txBody>
      </p:sp>
      <p:pic>
        <p:nvPicPr>
          <p:cNvPr id="35" name="Image 0" descr="/home/runner/workspace/screenshots/talent-deck/role-transform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417320"/>
            <a:ext cx="5440680" cy="3840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263640" y="534924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covers all 391 resources, with role-specific upskilling and certification paths.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SKILL READINESS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Skill Baseline and Gaps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— Skill Readiness Heatmap</a:t>
            </a:r>
            <a:endParaRPr lang="en-US" sz="1300" dirty="0"/>
          </a:p>
        </p:txBody>
      </p:sp>
      <p:pic>
        <p:nvPicPr>
          <p:cNvPr id="7" name="Image 0" descr="/home/runner/workspace/screenshots/talent-deck/skill-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676656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gaps 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182880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0" y="1828800"/>
            <a:ext cx="109728" cy="868680"/>
          </a:xfrm>
          <a:prstGeom prst="rect">
            <a:avLst/>
          </a:prstGeom>
          <a:solidFill>
            <a:srgbClr val="DA1E28"/>
          </a:solidFill>
          <a:ln w="12700">
            <a:solidFill>
              <a:srgbClr val="DA1E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1901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A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35240" y="22128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— needs structured GenAI + Watsonx upskilling.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278892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6640" y="2788920"/>
            <a:ext cx="109728" cy="868680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2862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35240" y="31729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operational depth — required for zero-touch ops.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374904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06640" y="3749040"/>
            <a:ext cx="109728" cy="86868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3822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C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35240" y="41330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across teams — bake into all engineering paths.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406640" y="4709160"/>
            <a:ext cx="4297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6C7C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4709160"/>
            <a:ext cx="109728" cy="8686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782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Domain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35240" y="50932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depth varies — universal Horizon onboarding.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68756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upskilling required to unlock AI-driven operations.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6-Month Upskilling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94560"/>
            <a:ext cx="10972800" cy="0"/>
          </a:xfrm>
          <a:prstGeom prst="line">
            <a:avLst/>
          </a:prstGeom>
          <a:noFill/>
          <a:ln w="25400">
            <a:solidFill>
              <a:srgbClr val="C6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2057400"/>
            <a:ext cx="274320" cy="274320"/>
          </a:xfrm>
          <a:prstGeom prst="ellipse">
            <a:avLst/>
          </a:prstGeom>
          <a:solidFill>
            <a:srgbClr val="0F62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52044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0 — 2 Months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5204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88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Industry Jumpstart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164592" cy="1645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57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foundations (CSM, Agile Explorer)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164592" cy="1645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domain familiarization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53328" y="2057400"/>
            <a:ext cx="274320" cy="274320"/>
          </a:xfrm>
          <a:prstGeom prst="ellipse">
            <a:avLst/>
          </a:prstGeom>
          <a:solidFill>
            <a:srgbClr val="009D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4568" y="1463040"/>
            <a:ext cx="3520440" cy="502920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2 — 4 Months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44568" y="2606040"/>
            <a:ext cx="35204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27448" y="2880360"/>
            <a:ext cx="164592" cy="164592"/>
          </a:xfrm>
          <a:prstGeom prst="ellipse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1768" y="2788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Watsonx fundamentals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3749040"/>
            <a:ext cx="164592" cy="164592"/>
          </a:xfrm>
          <a:prstGeom prst="ellipse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657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agentic workflows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7448" y="4617720"/>
            <a:ext cx="164592" cy="164592"/>
          </a:xfrm>
          <a:prstGeom prst="ellipse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basics (CI/CD, security gates)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957816" y="2057400"/>
            <a:ext cx="274320" cy="274320"/>
          </a:xfrm>
          <a:prstGeom prst="ellipse">
            <a:avLst/>
          </a:prstGeom>
          <a:solidFill>
            <a:srgbClr val="8A3F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49056" y="1463040"/>
            <a:ext cx="3520440" cy="502920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9056" y="14630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4 — 6 Months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49056" y="2606040"/>
            <a:ext cx="35204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31936" y="2880360"/>
            <a:ext cx="164592" cy="16459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06256" y="27889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implementation (observability, anomaly detection)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31936" y="3749040"/>
            <a:ext cx="164592" cy="16459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06256" y="3657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use cases (zero-touch run)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31936" y="4617720"/>
            <a:ext cx="164592" cy="164592"/>
          </a:xfrm>
          <a:prstGeom prst="ellipse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06256" y="4526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operations workflows in production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FUTURE STATE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Product Operations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9525">
            <a:solidFill>
              <a:srgbClr val="C6C7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148840" cy="1645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Product-Aligned Teams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ownership across business + tech.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15768" y="155448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15768" y="1554480"/>
            <a:ext cx="2148840" cy="164592"/>
          </a:xfrm>
          <a:prstGeom prst="rect">
            <a:avLst/>
          </a:prstGeom>
          <a:solidFill>
            <a:srgbClr val="009D9A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9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98648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98648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co-pilots embedded in every engineering flow.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74336" y="155448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1554480"/>
            <a:ext cx="2148840" cy="164592"/>
          </a:xfrm>
          <a:prstGeom prst="rect">
            <a:avLst/>
          </a:prstGeom>
          <a:solidFill>
            <a:srgbClr val="8A3FFC"/>
          </a:solidFill>
          <a:ln w="12700">
            <a:solidFill>
              <a:srgbClr val="8A3F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A3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57216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AIOps-Driven Operations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self-healing run with zero-touch SLAs.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32904" y="155448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2904" y="1554480"/>
            <a:ext cx="2148840" cy="164592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15784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4A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15784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Automation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15784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Secure-by-default pipelines, policy as code.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491472" y="155448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6C7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91472" y="1554480"/>
            <a:ext cx="2148840" cy="164592"/>
          </a:xfrm>
          <a:prstGeom prst="rect">
            <a:avLst/>
          </a:prstGeom>
          <a:solidFill>
            <a:srgbClr val="FF832B"/>
          </a:solidFill>
          <a:ln w="12700">
            <a:solidFill>
              <a:srgbClr val="FF83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74352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74352" y="21945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Domain Depth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74352" y="32004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fluency built into every team.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37760"/>
            <a:ext cx="11274552" cy="11887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0292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approach ensures Horizon's workforce is future-ready, scalable, and aligned to deliver measurable business outcomes in an AI-first operating model.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6350">
            <a:solidFill>
              <a:srgbClr val="C6C7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Operations Talent Transformation Plan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058400" y="644652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Horizon Operations Talent Transformation Plan</dc:title>
  <dc:subject>Product-Based Talent Strategy for AI-Led Operations</dc:subject>
  <dc:creator>IBM Consulting</dc:creator>
  <cp:lastModifiedBy>IBM Consulting</cp:lastModifiedBy>
  <cp:revision>1</cp:revision>
  <dcterms:created xsi:type="dcterms:W3CDTF">2026-04-27T16:22:32Z</dcterms:created>
  <dcterms:modified xsi:type="dcterms:W3CDTF">2026-04-27T16:22:32Z</dcterms:modified>
</cp:coreProperties>
</file>